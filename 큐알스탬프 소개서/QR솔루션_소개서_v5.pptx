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635000"/>
            <a:ext cx="1270000" cy="36830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6350">
            <a:solidFill>
              <a:srgbClr val="1113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753110"/>
            <a:ext cx="111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650" b="0" spc="-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MAKEVU 로고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0" y="762000"/>
            <a:ext cx="508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   ·   help@makevu.com   ·   1800-8590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14600"/>
            <a:ext cx="571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3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COMPANY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819400"/>
            <a:ext cx="5715000" cy="155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4700" b="1" spc="-47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</a:t>
            </a:r>
          </a:p>
          <a:p>
            <a:pPr algn="l">
              <a:lnSpc>
                <a:spcPct val="126000"/>
              </a:lnSpc>
            </a:pPr>
            <a:r>
              <a:rPr sz="4700" b="1" spc="-47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솔루션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635500"/>
            <a:ext cx="5715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spc="-15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 앱 없는 QR 스탬프 투어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991100"/>
            <a:ext cx="5715000" cy="250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 제작  ·  QR 스캔 즉시 참여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0000" y="1206500"/>
            <a:ext cx="5080000" cy="4445000"/>
          </a:xfrm>
          <a:prstGeom prst="roundRect">
            <a:avLst>
              <a:gd name="adj" fmla="val 2571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6200" y="3357880"/>
            <a:ext cx="4927600" cy="19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히어로 이미지 — 대문 영상 스틸 / 폰 목업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714500"/>
            <a:ext cx="8890000" cy="1351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</a:t>
            </a:r>
          </a:p>
          <a:p>
            <a:pPr algn="l">
              <a:lnSpc>
                <a:spcPct val="12800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7620000" cy="662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2000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 필요하지 않아요.</a:t>
            </a:r>
          </a:p>
          <a:p>
            <a:pPr algn="l">
              <a:lnSpc>
                <a:spcPct val="172000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381500"/>
            <a:ext cx="10668000" cy="9525"/>
          </a:xfrm>
          <a:prstGeom prst="rect">
            <a:avLst/>
          </a:prstGeom>
          <a:solidFill>
            <a:srgbClr val="7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635500"/>
            <a:ext cx="330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3200" b="1" spc="-32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100건~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270500"/>
            <a:ext cx="3302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운영 행사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4635500"/>
            <a:ext cx="330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3200" b="1" spc="-32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20만명~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5270500"/>
            <a:ext cx="3302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누적 참가자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4635500"/>
            <a:ext cx="330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3200" b="1" spc="-32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5270500"/>
            <a:ext cx="3302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평균 제작 기간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5080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5080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7970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9621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40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19875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고객사 · 메이크뷰가 다른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19558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3177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4828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447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25082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팝업/브랜드 · 지역축제/관광 · 컨퍼런스/박람회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0" y="24765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28384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30035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654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30289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이지 · 리드 · 데일리 플랜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29972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33591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5242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861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35496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 프로세스 · 적립 방식 · 기능 옵션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0" y="35179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38798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40449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0068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40703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어드민 5가지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0000" y="40386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44005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45656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5275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8000" y="45910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0" y="45593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" y="49212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50863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0482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8000" y="51117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샵플랜 · 모바일 페이지 제작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0000" y="50800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4419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607050"/>
            <a:ext cx="508000" cy="260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568950"/>
            <a:ext cx="2794000" cy="336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000" y="5632450"/>
            <a:ext cx="4445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0000" y="56007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000" y="596265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검증된 이벤트 성공 파트너,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52600"/>
            <a:ext cx="8890000" cy="497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이미 다양한 고객사들이 메이크뷰 QR 솔루션과 함께하고 있어요!</a:t>
            </a:r>
          </a:p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글로벌 브랜드부터 지자체 축제까지 다양한 규모의 이벤트를 함께 운영했어요.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984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3347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롯데월드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1000" y="2984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7200" y="3347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워커힐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0" y="2984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6200" y="3347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다이슨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9000" y="2984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347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메르세데스 벤츠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0" y="2984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4200" y="3347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현대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000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4363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삼성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1000" y="4000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0" y="4363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삼다수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0000" y="4000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6200" y="4363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올리브영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4000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4363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티쏘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98000" y="4000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74200" y="4363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000" y="5016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200" y="5379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삼양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1000" y="5016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7200" y="5379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춘천시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80000" y="5016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56200" y="5379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곡성군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39000" y="5016500"/>
            <a:ext cx="2032000" cy="889000"/>
          </a:xfrm>
          <a:prstGeom prst="roundRect">
            <a:avLst>
              <a:gd name="adj" fmla="val 7142"/>
            </a:avLst>
          </a:prstGeom>
          <a:solidFill>
            <a:srgbClr val="F7F8FA"/>
          </a:solidFill>
          <a:ln w="6350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5379720"/>
            <a:ext cx="187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00" b="0" spc="-8">
                <a:solidFill>
                  <a:srgbClr val="AEB4BA"/>
                </a:solidFill>
                <a:latin typeface="Pretendard"/>
                <a:latin typeface="Pretendard"/>
                <a:ea typeface="Pretendard"/>
                <a:cs typeface="Pretendard"/>
              </a:rPr>
              <a:t>고양국제박람회재단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 QR 솔루션을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선택해야 할까요?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5260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 메이크뷰를 선택해야 하는 세 가지 이유예요.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84450"/>
            <a:ext cx="3384550" cy="3175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1400" y="2863850"/>
            <a:ext cx="711200" cy="711200"/>
          </a:xfrm>
          <a:prstGeom prst="roundRect">
            <a:avLst>
              <a:gd name="adj" fmla="val 14285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7600" y="3097530"/>
            <a:ext cx="5588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60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3D 아이콘</a:t>
            </a:r>
          </a:p>
          <a:p>
            <a:pPr algn="ctr">
              <a:lnSpc>
                <a:spcPct val="160000"/>
              </a:lnSpc>
            </a:pPr>
            <a:r>
              <a:rPr sz="60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빠름.png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379095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-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간단한 참여와 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019550"/>
            <a:ext cx="2825750" cy="591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</a:t>
            </a:r>
          </a:p>
          <a:p>
            <a:pPr algn="l">
              <a:lnSpc>
                <a:spcPct val="142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필요하지 않아요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78155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 현장에는 별도 인력이 필요하지 않고, 제공되는 어드민에서 모든 진행 상황을 파악하고 관리할 수 있어요.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0550" y="2584450"/>
            <a:ext cx="3384550" cy="3175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79950" y="2863850"/>
            <a:ext cx="711200" cy="711200"/>
          </a:xfrm>
          <a:prstGeom prst="roundRect">
            <a:avLst>
              <a:gd name="adj" fmla="val 14285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6150" y="3097530"/>
            <a:ext cx="5588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60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3D 아이콘</a:t>
            </a:r>
          </a:p>
          <a:p>
            <a:pPr algn="ctr">
              <a:lnSpc>
                <a:spcPct val="160000"/>
              </a:lnSpc>
            </a:pPr>
            <a:r>
              <a:rPr sz="60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커스텀.png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950" y="379095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-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브랜드 경험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50" y="4019550"/>
            <a:ext cx="2825750" cy="591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템플릿에 맞추지 않고</a:t>
            </a:r>
          </a:p>
          <a:p>
            <a:pPr algn="l">
              <a:lnSpc>
                <a:spcPct val="142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 톤으로 커스텀해요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50" y="478155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앱 기반 서비스는 정해진 화면에 로고만 얹습니다. 메이크뷰는 모든 페이지를 우리 브랜드의 톤앤매너로 커스텀 디자인할 수 있어요.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100" y="2584450"/>
            <a:ext cx="3384550" cy="3175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18500" y="2863850"/>
            <a:ext cx="711200" cy="711200"/>
          </a:xfrm>
          <a:prstGeom prst="roundRect">
            <a:avLst>
              <a:gd name="adj" fmla="val 14285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700" y="3097530"/>
            <a:ext cx="5588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60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3D 아이콘</a:t>
            </a:r>
          </a:p>
          <a:p>
            <a:pPr algn="ctr">
              <a:lnSpc>
                <a:spcPct val="160000"/>
              </a:lnSpc>
            </a:pPr>
            <a:r>
              <a:rPr sz="60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데이터.png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8500" y="379095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-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성과 측정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0" y="4019550"/>
            <a:ext cx="2825750" cy="591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 결과를 구체적인</a:t>
            </a:r>
          </a:p>
          <a:p>
            <a:pPr algn="l">
              <a:lnSpc>
                <a:spcPct val="14200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데이터로 수집해요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8500" y="478155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누가 언제 참여했는지 실시간으로 데이터를 수집해요. 엑셀로 다운로드 받아 이벤트 종료 후에 보고서와 후속 마케팅 등에 활용하세요.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02 고객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함께한 고객사들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행사에서 어떤 목적으로, 어떻게 운영했는지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717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2171700"/>
            <a:ext cx="3384550" cy="2032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045460"/>
            <a:ext cx="323215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현장 사진 + 스탬프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1400" y="4432300"/>
            <a:ext cx="900176" cy="2159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4432300"/>
            <a:ext cx="900176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팝업 · 브랜드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762500"/>
            <a:ext cx="2825750" cy="285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1400" y="511810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외국인 방문객까지 진입 장벽 없이 참여시키기 위해 4개국 언어를 지원하고, 매장 내에 QR을 숨겨두어 자연스럽게 구매 동선을 유도했어요.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0550" y="21717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0550" y="2171700"/>
            <a:ext cx="3384550" cy="2032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6750" y="3045460"/>
            <a:ext cx="323215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현장 사진 + 스탬프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수원화성 어드벤처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9950" y="4432300"/>
            <a:ext cx="1074420" cy="2159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9950" y="4432300"/>
            <a:ext cx="107442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지역 축제 · 관광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9950" y="4762500"/>
            <a:ext cx="2825750" cy="285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수원화성 어드벤처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9950" y="511810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문화재 투어의 완주율을 높이기 위해 퀴즈 미션, 단계별 보상과 룰렛을 이용한 확률형 리워드로 끝까지 참여하게 만들었어요.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9100" y="21717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39100" y="2171700"/>
            <a:ext cx="3384550" cy="2032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5300" y="3045460"/>
            <a:ext cx="323215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현장 사진 + 스탬프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8500" y="4432300"/>
            <a:ext cx="1074420" cy="2159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8500" y="4432300"/>
            <a:ext cx="107442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· 박람회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500" y="4762500"/>
            <a:ext cx="2825750" cy="285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500" y="5118100"/>
            <a:ext cx="2825750" cy="254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참가자의 동선 유도를 위해 부스마다 QR 을 두고 참여 방식을 최대한 단순하게 만들어서, 부스 방문율이 2배 이상 올랐어요.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 플랜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자세한 가격과 구성을 확인하세요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플랜과 옵션을 선택할지 고민되시나요? 다양한 샘플 이벤트를 직접 체험한 후 결정해 보세요!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71700"/>
            <a:ext cx="3384550" cy="3810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4257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참여율이 가장 중요할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628900"/>
            <a:ext cx="282575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본인인증 없이 참여하는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882900"/>
            <a:ext cx="282575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1400" y="3378200"/>
            <a:ext cx="551688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3378200"/>
            <a:ext cx="551688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지역축제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56588" y="3378200"/>
            <a:ext cx="813054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56588" y="3378200"/>
            <a:ext cx="813054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대규모 박람회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1400" y="3771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1400" y="40132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40132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43688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43688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47244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1400" y="47244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1400" y="51308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1400" y="53340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400" y="5511800"/>
            <a:ext cx="282575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100만원~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0550" y="2171700"/>
            <a:ext cx="3384550" cy="3810000"/>
          </a:xfrm>
          <a:prstGeom prst="roundRect">
            <a:avLst>
              <a:gd name="adj" fmla="val 3377"/>
            </a:avLst>
          </a:prstGeom>
          <a:solidFill>
            <a:srgbClr val="EEF3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9950" y="24257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이벤트 참여자의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9950" y="2628900"/>
            <a:ext cx="282575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개인 정보 수집이 가능한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9950" y="2882900"/>
            <a:ext cx="282575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리드 플랜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79950" y="3378200"/>
            <a:ext cx="725932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9950" y="3378200"/>
            <a:ext cx="725932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신제품 팝업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69382" y="3378200"/>
            <a:ext cx="725932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69382" y="3378200"/>
            <a:ext cx="725932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기업 세미나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9950" y="3771900"/>
            <a:ext cx="2825750" cy="9525"/>
          </a:xfrm>
          <a:prstGeom prst="rect">
            <a:avLst/>
          </a:prstGeom>
          <a:solidFill>
            <a:srgbClr val="C6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79950" y="40132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9950" y="40132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50" y="43688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9950" y="43688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79950" y="47244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9950" y="47244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79950" y="5130800"/>
            <a:ext cx="2825750" cy="9525"/>
          </a:xfrm>
          <a:prstGeom prst="rect">
            <a:avLst/>
          </a:prstGeom>
          <a:solidFill>
            <a:srgbClr val="C6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9950" y="53340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9950" y="5511800"/>
            <a:ext cx="282575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39100" y="2171700"/>
            <a:ext cx="3384550" cy="3810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18500" y="24257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출석 체크 방식으로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8500" y="2628900"/>
            <a:ext cx="282575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spc="-10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재방문을 유도하는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8500" y="2882900"/>
            <a:ext cx="282575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데일리 플랜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18500" y="3378200"/>
            <a:ext cx="464566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18500" y="3378200"/>
            <a:ext cx="464566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항공사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46566" y="3378200"/>
            <a:ext cx="464566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46566" y="3378200"/>
            <a:ext cx="464566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백화점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74632" y="3378200"/>
            <a:ext cx="725932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4632" y="3378200"/>
            <a:ext cx="725932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F&amp;B 매장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18500" y="3771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18500" y="40132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8500" y="40132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8500" y="43688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18500" y="43688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90일~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8500" y="4724400"/>
            <a:ext cx="190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8500" y="47244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10회~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18500" y="51308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18500" y="5334000"/>
            <a:ext cx="282575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8500" y="5511800"/>
            <a:ext cx="282575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실제 스탬프 투어는 이렇게 운영돼요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순서부터 운영 방식, 추가할 수 있는 기능까지 한 번에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7170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400300"/>
            <a:ext cx="2019300" cy="307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0600" y="2755900"/>
            <a:ext cx="2019300" cy="1574800"/>
          </a:xfrm>
          <a:prstGeom prst="roundRect">
            <a:avLst>
              <a:gd name="adj" fmla="val 4838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401060"/>
            <a:ext cx="18669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화면 목업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495800"/>
            <a:ext cx="2019300" cy="245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현장에서 QR을 스캔해요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2000" y="3536950"/>
            <a:ext cx="1905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2500" y="217170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100" y="2400300"/>
            <a:ext cx="2019300" cy="307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21100" y="2755900"/>
            <a:ext cx="2019300" cy="1574800"/>
          </a:xfrm>
          <a:prstGeom prst="roundRect">
            <a:avLst>
              <a:gd name="adj" fmla="val 4838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7300" y="3401060"/>
            <a:ext cx="18669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화면 목업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100" y="4495800"/>
            <a:ext cx="2019300" cy="245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 인증을 완료해요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21100" y="4838700"/>
            <a:ext cx="1206500" cy="215900"/>
          </a:xfrm>
          <a:prstGeom prst="roundRect">
            <a:avLst>
              <a:gd name="adj" fmla="val 50000"/>
            </a:avLst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1100" y="4838700"/>
            <a:ext cx="1206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700" b="1" spc="-7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2500" y="3536950"/>
            <a:ext cx="1905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3000" y="217170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1600" y="2400300"/>
            <a:ext cx="2019300" cy="307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1600" y="2755900"/>
            <a:ext cx="2019300" cy="1574800"/>
          </a:xfrm>
          <a:prstGeom prst="roundRect">
            <a:avLst>
              <a:gd name="adj" fmla="val 4838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7800" y="3401060"/>
            <a:ext cx="18669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화면 목업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1600" y="4495800"/>
            <a:ext cx="2019300" cy="245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즉시 스탬프가 바로 적립돼요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0" y="3536950"/>
            <a:ext cx="1905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500" y="217170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2100" y="2400300"/>
            <a:ext cx="2019300" cy="307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2100" y="2755900"/>
            <a:ext cx="2019300" cy="1574800"/>
          </a:xfrm>
          <a:prstGeom prst="roundRect">
            <a:avLst>
              <a:gd name="adj" fmla="val 4838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8300" y="3401060"/>
            <a:ext cx="18669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화면 목업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2100" y="4495800"/>
            <a:ext cx="2019300" cy="245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스탬프를 다 모으고 리워드를 받아요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2000" y="5537200"/>
            <a:ext cx="1580896" cy="3556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5200" y="55372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5537200"/>
            <a:ext cx="1377696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950" b="1" spc="-10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1000" y="5537200"/>
            <a:ext cx="2290318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24200" y="5537200"/>
            <a:ext cx="2540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1000" y="5537200"/>
            <a:ext cx="2087118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4단계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적립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성격에 맞는 보안과 편의성에 따라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자유롭게 선택하세요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9800"/>
            <a:ext cx="33845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41400" y="2387600"/>
            <a:ext cx="2825750" cy="698500"/>
          </a:xfrm>
          <a:prstGeom prst="roundRect">
            <a:avLst>
              <a:gd name="adj" fmla="val 12727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7600" y="2665730"/>
            <a:ext cx="2673350" cy="19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일러스트 / 아이콘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3175000"/>
            <a:ext cx="2825750" cy="298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3467100"/>
            <a:ext cx="2825750" cy="250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현장에 비치한 QR을 스캔하면 바로 적립돼요. 가장 익숙하고 준비가 간단한 방식이에요.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550" y="2209800"/>
            <a:ext cx="33845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79950" y="2387600"/>
            <a:ext cx="2825750" cy="698500"/>
          </a:xfrm>
          <a:prstGeom prst="roundRect">
            <a:avLst>
              <a:gd name="adj" fmla="val 12727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6150" y="2665730"/>
            <a:ext cx="2673350" cy="19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일러스트 / 아이콘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50" y="3175000"/>
            <a:ext cx="2825750" cy="298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NFC 태그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50" y="3467100"/>
            <a:ext cx="2825750" cy="250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스티커에 휴대폰을 태그하면 적립돼요. 유출이나 허위 적립 걱정이 없어요.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9100" y="2209800"/>
            <a:ext cx="33845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18500" y="2387600"/>
            <a:ext cx="2825750" cy="698500"/>
          </a:xfrm>
          <a:prstGeom prst="roundRect">
            <a:avLst>
              <a:gd name="adj" fmla="val 12727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700" y="2665730"/>
            <a:ext cx="2673350" cy="19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일러스트 / 아이콘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500" y="3175000"/>
            <a:ext cx="2825750" cy="298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위치 기반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500" y="3467100"/>
            <a:ext cx="2825750" cy="250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정해진 존 안에 들어오면 적립이 가능해요. 참여자의 동선을 자연스럽게 유도할 수 있어요.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43688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4559300"/>
            <a:ext cx="7620000" cy="298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유연한 운영 방식 — 상황에 맞게 이렇게도 쓸 수 있어요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4851400"/>
            <a:ext cx="7620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조건과 일정에 따라 적립 · 운영 방식을 다르게 설계해요.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000" y="5181600"/>
            <a:ext cx="5207000" cy="736600"/>
          </a:xfrm>
          <a:prstGeom prst="roundRect">
            <a:avLst>
              <a:gd name="adj" fmla="val 12068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5200" y="5308600"/>
            <a:ext cx="48006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+ GPS 함께 사용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200" y="5524500"/>
            <a:ext cx="48006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7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스캔 후 GPS 위치까지 확인되면 적립이 완료돼요. QR 이미지가 유출돼도 허위 적립을 막을 수 있고, QR 위치까지 이동해야 해서 더 구체적인 동선 유도가 가능해요.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3000" y="5181600"/>
            <a:ext cx="5207000" cy="736600"/>
          </a:xfrm>
          <a:prstGeom prst="roundRect">
            <a:avLst>
              <a:gd name="adj" fmla="val 12068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6200" y="5308600"/>
            <a:ext cx="48006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퀵스탬프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6200" y="5524500"/>
            <a:ext cx="48006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7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페이지만 운영하는 간단한 방식이에요. 자유로운 방식의 리워드 지급이 가능하며, 추가 페이지를 만들지 않아 합리적인 가격에 빠른 제작이 가능합니다.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기능 옵션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항목은 사전 협의를 통해 조정 가능해요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필요한 기능만 골라서 더할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71700"/>
            <a:ext cx="2476500" cy="26670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2171700"/>
            <a:ext cx="2476500" cy="14605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2759710"/>
            <a:ext cx="23241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기능 이미지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mission.png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3835400"/>
            <a:ext cx="2019300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미션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140200"/>
            <a:ext cx="2019300" cy="239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퀴즈, 웹사이트 방문, 가입 등의 미션을 수행해야 스탬프 적립이 가능해요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2500" y="2171700"/>
            <a:ext cx="2476500" cy="26670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2500" y="2171700"/>
            <a:ext cx="2476500" cy="14605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8700" y="2759710"/>
            <a:ext cx="23241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기능 이미지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form.png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100" y="3835400"/>
            <a:ext cx="2019300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추가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100" y="4140200"/>
            <a:ext cx="2019300" cy="239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만족도 조사 등 원하는 질문으로 답변을 받을 수 있어요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0" y="2171700"/>
            <a:ext cx="2476500" cy="26670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000" y="2171700"/>
            <a:ext cx="2476500" cy="14605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9200" y="2759710"/>
            <a:ext cx="23241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기능 이미지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roulette.png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600" y="3835400"/>
            <a:ext cx="2019300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룰렛으로 리워드 지급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600" y="4140200"/>
            <a:ext cx="2019300" cy="239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당첨 확률을 조정해 리워드 예산을 효율적으로 관리해요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500" y="2171700"/>
            <a:ext cx="2476500" cy="26670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3500" y="2171700"/>
            <a:ext cx="2476500" cy="14605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9700" y="2759710"/>
            <a:ext cx="23241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기능 이미지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custom.png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2100" y="3835400"/>
            <a:ext cx="2019300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2100" y="4140200"/>
            <a:ext cx="2019300" cy="239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컨셉과 브랜드 톤앤매너에 맞춰 모든 화면을 커스텀 디자인 가능해요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000" y="50165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5200" y="525145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400" y="537337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7800" y="5016500"/>
            <a:ext cx="1587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 연장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92500" y="50165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95700" y="525145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1900" y="537337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8300" y="5016500"/>
            <a:ext cx="1587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 추가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3000" y="50165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26200" y="525145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2400" y="537337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8800" y="5016500"/>
            <a:ext cx="1587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자동 발송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53500" y="50165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56700" y="525145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2900" y="537337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39300" y="5016500"/>
            <a:ext cx="1587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다국어 지원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 실시간 운영 어드민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이벤트가 열린 뒤에도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운영은 어드민 한 곳에서 끝내요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5260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현황을 실시간으로 확인하고, 필요한 건 바로 수정할 수 있어요. 별도 설치 없이 웹에서 바로 접속해요.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84450"/>
            <a:ext cx="2032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2584450"/>
            <a:ext cx="2032000" cy="1905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394710"/>
            <a:ext cx="187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어드민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홈 요약.jpg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7250"/>
            <a:ext cx="17272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650" b="1" spc="13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19650"/>
            <a:ext cx="172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요약 데이터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2550"/>
            <a:ext cx="1727200" cy="21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7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수, 완주율 등 핵심 지표를 한눈에 확인하세요.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1000" y="2584450"/>
            <a:ext cx="2032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1000" y="2584450"/>
            <a:ext cx="2032000" cy="1905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7200" y="3394710"/>
            <a:ext cx="187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어드민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참여자 데이터.jpg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3400" y="4667250"/>
            <a:ext cx="17272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650" b="1" spc="13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3400" y="4819650"/>
            <a:ext cx="172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3400" y="5162550"/>
            <a:ext cx="1727200" cy="21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7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적립, 리워드 수령 등의 참여자 상태를 변경할 수 있어요.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0000" y="2584450"/>
            <a:ext cx="2032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0000" y="2584450"/>
            <a:ext cx="2032000" cy="1905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6200" y="3394710"/>
            <a:ext cx="187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어드민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룰렛.jpg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2400" y="4667250"/>
            <a:ext cx="17272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650" b="1" spc="13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2400" y="4819650"/>
            <a:ext cx="172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 확률 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2400" y="5162550"/>
            <a:ext cx="1727200" cy="21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7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리워드별 당첨 확률 및 당첨 가능 개수를 현장 상황에 맞게 조정하세요.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39000" y="2584450"/>
            <a:ext cx="2032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39000" y="2584450"/>
            <a:ext cx="2032000" cy="1905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3394710"/>
            <a:ext cx="187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어드민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설문.jpg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1400" y="4667250"/>
            <a:ext cx="17272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650" b="1" spc="13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1400" y="4819650"/>
            <a:ext cx="172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응답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1400" y="5162550"/>
            <a:ext cx="1727200" cy="21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7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실시간 응답 데이터를 답변자별, 문항별로 확인하세요.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98000" y="2584450"/>
            <a:ext cx="2032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98000" y="2584450"/>
            <a:ext cx="2032000" cy="1905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74200" y="3394710"/>
            <a:ext cx="187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어드민 화면</a:t>
            </a:r>
          </a:p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다운로드.jpg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400" y="4667250"/>
            <a:ext cx="1727200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650" b="1" spc="13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0400" y="4819650"/>
            <a:ext cx="172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 다운로드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0400" y="5162550"/>
            <a:ext cx="1727200" cy="21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7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데이터를 엑셀 파일로 받아 후속 마케팅과 보고서 등에 활용하세요.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 제작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브랜드에 딱 맞는 스탬프 투어!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2~3일이면 완성됩니다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98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600" y="2438400"/>
            <a:ext cx="20193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162300"/>
            <a:ext cx="2019300" cy="566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요청사항</a:t>
            </a:r>
          </a:p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2000" y="2997200"/>
            <a:ext cx="1905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2500" y="22098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100" y="2438400"/>
            <a:ext cx="20193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100" y="3162300"/>
            <a:ext cx="2019300" cy="566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페이지</a:t>
            </a:r>
          </a:p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디자인 개발 진행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2500" y="2997200"/>
            <a:ext cx="1905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00" y="22098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1600" y="2438400"/>
            <a:ext cx="20193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1600" y="3162300"/>
            <a:ext cx="2019300" cy="566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검수 및</a:t>
            </a:r>
          </a:p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오픈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0" y="2997200"/>
            <a:ext cx="1905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500" y="22098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2100" y="2438400"/>
            <a:ext cx="20193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162300"/>
            <a:ext cx="2019300" cy="566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 데이터</a:t>
            </a:r>
          </a:p>
          <a:p>
            <a:pPr algn="l">
              <a:lnSpc>
                <a:spcPct val="145000"/>
              </a:lnSpc>
            </a:pPr>
            <a:r>
              <a:rPr sz="1400" b="1" spc="-14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전달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368800"/>
            <a:ext cx="10668000" cy="1397000"/>
          </a:xfrm>
          <a:prstGeom prst="roundRect">
            <a:avLst>
              <a:gd name="adj" fmla="val 8181"/>
            </a:avLst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800" y="4724400"/>
            <a:ext cx="762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spc="-16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요청사항만 접수하세요. 나머지는 메이크뷰가 해드릴게요!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5156200"/>
            <a:ext cx="7620000" cy="255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50" b="0" spc="-1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커스텀 요청이 있을 경우 완성까지 약 2주 정도 소요됩니다.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 — 샵플랜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코드로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상품 판매도 할 수 있다고요?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9800"/>
            <a:ext cx="3384550" cy="1016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0600" y="24130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53492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857500"/>
            <a:ext cx="2825750" cy="253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0550" y="2209800"/>
            <a:ext cx="3384550" cy="1016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9150" y="24130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5350" y="253492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2857500"/>
            <a:ext cx="2825750" cy="253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카드 · 간편결제 · 계좌이체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9100" y="2209800"/>
            <a:ext cx="3384550" cy="1016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67700" y="24130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2534920"/>
            <a:ext cx="203200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55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2857500"/>
            <a:ext cx="2825750" cy="253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팝업 · 부스 · 축제 단기 운영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3403600"/>
            <a:ext cx="6350000" cy="2413000"/>
          </a:xfrm>
          <a:prstGeom prst="roundRect">
            <a:avLst>
              <a:gd name="adj" fmla="val 4736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538980"/>
            <a:ext cx="6197600" cy="19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샵플랜 화면 목업 (홈페이지 샵플랜.jpg)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6000" y="3403600"/>
            <a:ext cx="4064000" cy="2413000"/>
          </a:xfrm>
          <a:prstGeom prst="roundRect">
            <a:avLst>
              <a:gd name="adj" fmla="val 4736"/>
            </a:avLst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5400" y="3759200"/>
            <a:ext cx="34290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1" spc="-21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샵플랜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5400" y="4292600"/>
            <a:ext cx="3429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8000"/>
              </a:lnSpc>
            </a:pPr>
            <a:r>
              <a:rPr sz="1000" b="0" spc="-1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시작하는 결제.</a:t>
            </a:r>
          </a:p>
          <a:p>
            <a:pPr algn="l">
              <a:lnSpc>
                <a:spcPct val="178000"/>
              </a:lnSpc>
            </a:pPr>
            <a:r>
              <a:rPr sz="1000" b="0" spc="-1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부스 단기 운영에 맞춰져 있어요.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5400" y="5207000"/>
            <a:ext cx="3429000" cy="231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모바일 페이지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안내용 모바일 페이지도</a:t>
            </a:r>
          </a:p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만들어드려요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52600"/>
            <a:ext cx="889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이벤트의 자세한 안내를 담은 모바일 페이지를 함께 제작하고 참여율을 극대화해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844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774950"/>
            <a:ext cx="381000" cy="184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724150"/>
            <a:ext cx="4572000" cy="288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016250"/>
            <a:ext cx="4572000" cy="2343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내용과 참여 방법을 자세히 안내해요.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5750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3765550"/>
            <a:ext cx="381000" cy="184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714750"/>
            <a:ext cx="4572000" cy="288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4006850"/>
            <a:ext cx="4572000" cy="2343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스팟을 지도로 안내하고 방문자 동선을 유도해요.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5656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200" y="4756150"/>
            <a:ext cx="381000" cy="184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4705350"/>
            <a:ext cx="4572000" cy="288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투어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4997450"/>
            <a:ext cx="4572000" cy="2343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안내 페이지에 스탬프 투어로 연결되는 버튼을 추가해요.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2584450"/>
            <a:ext cx="5080000" cy="2870200"/>
          </a:xfrm>
          <a:prstGeom prst="roundRect">
            <a:avLst>
              <a:gd name="adj" fmla="val 3982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948430"/>
            <a:ext cx="4927600" cy="19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안내 페이지 목업 2종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0" y="558800"/>
            <a:ext cx="444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 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193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5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797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19240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050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서비스 비용은 어떻게 책정되나요?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209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비용은 선택하신 플랜, 스탬프 갯수, 이용 기간, 리워드 지급 조건, 커스텀 요구사항 등에 따라 달라집니다.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0" y="1797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40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0" y="19050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제작기간은 보통 어느정도 걸리나요?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0" y="21209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만약 커스텀 요청이 있을 경우, 완성까지 약 2주 정도 소요됩니다.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2495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" y="26225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6035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플랜과 리드 플랜의 차이는 무엇인가요?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8194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두 플랜의 차이점은 ‘인증 여부’입니다. 리드 플랜은 고객이 핸드폰 번호 또는 이메일로 본인 인증을 해야 적립할 수 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2495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225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000" y="26035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몇 개까지 추가 가능한가요?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0" y="28194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원하는 만큼 무제한으로 추가할 수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3194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" y="33210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3020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디자인은 어디까지 가능한가요?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5179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있습니다. 원본 디자인 파일을 주시면 페이지에 맞게 적용해 드리며, 추가 비용이 발생됩니다.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3000" y="3194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3210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4000" y="33020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갯수에 따른 리워드 차등 지급이 가능한가요?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0" y="35179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네, 가능합니다. 적립 횟수에 따라 차등 지급하거나, 특정 스탬프 적립 시 리워드를 지급하도록 설정할 수 있습니다.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2000" y="3892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800" y="40195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0005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태블릿, PC로도 참여할 수 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2164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코드 스캔이 가능한 기기라면 종류에 관계없이 이벤트에 참여할 수 있습니다.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000" y="3892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0195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40005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운영 중 수정이 가능한가요?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42164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특정 페이지의 이미지는 언제든지 즉시 수정할 수 있습니다. 다만, 기능 수정은 추가 비용이 발생될 수 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2000" y="4591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9800" y="47180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46990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반드시 현장에 와야만 스탬프 적립이 가능하게 하는 방법도 있을까요?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9149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스티커나 카드를 이용하면 QR코드를 복사하여 부정 적립하는 것을 막을 수 있습니다.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000" y="4591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7180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46990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 후 참여 데이터는 어떻게 처리되나요?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49149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참여 기록은 관리자 페이지에서 확인하고 다운로드할 수 있습니다. 이벤트 종료 시 모든 기록은 삭제됩니다.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2000" y="5289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9800" y="54165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53975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고객정보 수집을 함에 있어 보안상 이슈는 없나요?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56134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데이터는 암호화를 거쳐 안전하게 저장 및 관리됩니다.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0" y="5289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16550"/>
            <a:ext cx="19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4000" y="5397500"/>
            <a:ext cx="4635500" cy="216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솔루션 이용 신청은 어떻게 해야 하나요?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000" y="5613400"/>
            <a:ext cx="4635500" cy="19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 신청서를 작성하거나, 전화 또는 온라인 채팅으로 빠르게 상담을 요청하실 수 있습니다.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540000"/>
            <a:ext cx="1524000" cy="43180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6350">
            <a:solidFill>
              <a:srgbClr val="1113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268986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650" b="0" spc="-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MAKEVU 로고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13100"/>
            <a:ext cx="7620000" cy="77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</a:t>
            </a:r>
          </a:p>
          <a:p>
            <a:pPr algn="l">
              <a:lnSpc>
                <a:spcPct val="150000"/>
              </a:lnSpc>
            </a:pPr>
            <a:r>
              <a:rPr sz="1900" b="1" spc="-1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없는 QR 스탬프 투어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4381500"/>
            <a:ext cx="10668000" cy="9525"/>
          </a:xfrm>
          <a:prstGeom prst="rect">
            <a:avLst/>
          </a:prstGeom>
          <a:solidFill>
            <a:srgbClr val="DC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724400"/>
            <a:ext cx="9525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회사명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6900" y="4724400"/>
            <a:ext cx="381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(주)엠카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03800"/>
            <a:ext cx="9525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사업자등록번호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6900" y="5003800"/>
            <a:ext cx="381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201-86-28172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283200"/>
            <a:ext cx="9525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6900" y="5283200"/>
            <a:ext cx="381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서울 서초구 강남대로 373, 15F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0" y="4724400"/>
            <a:ext cx="8255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900" y="4724400"/>
            <a:ext cx="381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0" y="5003800"/>
            <a:ext cx="8255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이메일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900" y="5003800"/>
            <a:ext cx="381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help@makevu.com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0" y="5283200"/>
            <a:ext cx="8255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대표번호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900" y="5283200"/>
            <a:ext cx="3810000" cy="21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1800-8590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50500" y="4724400"/>
            <a:ext cx="1079500" cy="107950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6700" y="5198110"/>
            <a:ext cx="9271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65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 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