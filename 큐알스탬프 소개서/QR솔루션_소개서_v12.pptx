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723900"/>
            <a:ext cx="889000" cy="298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1403350"/>
            <a:ext cx="5715000" cy="1282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sz="4000" b="1" spc="-4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메이크뷰</a:t>
            </a:r>
          </a:p>
          <a:p>
            <a:pPr algn="l">
              <a:lnSpc>
                <a:spcPts val="4800"/>
              </a:lnSpc>
            </a:pPr>
            <a:r>
              <a:rPr sz="4000" b="1" spc="-4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QR 스탬프 솔루션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876550"/>
            <a:ext cx="57150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spc="-15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축제 · 팝업 · 박람회를 위한 앱 없는 QR 스탬프 투어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969000"/>
            <a:ext cx="508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0" spc="-10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www.qrstp.com   ·   help@makevu.com   ·   1800-8590</a:t>
            </a:r>
          </a:p>
        </p:txBody>
      </p:sp>
      <p:pic>
        <p:nvPicPr>
          <p:cNvPr id="7" name="Picture 6" descr="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4600" y="1504950"/>
            <a:ext cx="7137400" cy="46545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B7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079500"/>
            <a:ext cx="8890000" cy="1363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120"/>
              </a:lnSpc>
            </a:pPr>
            <a:r>
              <a:rPr sz="4000" b="1" spc="-40">
                <a:solidFill>
                  <a:srgbClr val="FFFFFF"/>
                </a:solidFill>
                <a:latin typeface="Pretendard"/>
                <a:latin typeface="Pretendard"/>
                <a:ea typeface="Pretendard"/>
                <a:cs typeface="Pretendard"/>
              </a:rPr>
              <a:t>종이 스탬프도, 앱도 아닌</a:t>
            </a:r>
          </a:p>
          <a:p>
            <a:pPr algn="l">
              <a:lnSpc>
                <a:spcPts val="5120"/>
              </a:lnSpc>
            </a:pPr>
            <a:r>
              <a:rPr sz="4000" b="1" spc="-40">
                <a:solidFill>
                  <a:srgbClr val="FFFFFF"/>
                </a:solidFill>
                <a:latin typeface="Pretendard"/>
                <a:latin typeface="Pretendard"/>
                <a:ea typeface="Pretendard"/>
                <a:cs typeface="Pretendard"/>
              </a:rPr>
              <a:t>메이크뷰.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540000"/>
            <a:ext cx="7620000" cy="6751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8"/>
              </a:lnSpc>
            </a:pPr>
            <a:r>
              <a:rPr sz="1400" b="0" spc="-14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앱 설치도, 로그인도 필요하지 않아요.</a:t>
            </a:r>
          </a:p>
          <a:p>
            <a:pPr algn="l">
              <a:lnSpc>
                <a:spcPts val="2408"/>
              </a:lnSpc>
            </a:pPr>
            <a:r>
              <a:rPr sz="1400" b="0" spc="-14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QR 스캔으로 1초 만에 참여합니다.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4102100"/>
            <a:ext cx="10668000" cy="9525"/>
          </a:xfrm>
          <a:prstGeom prst="rect">
            <a:avLst/>
          </a:prstGeom>
          <a:solidFill>
            <a:srgbClr val="7D9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4337050"/>
            <a:ext cx="3302000" cy="73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250"/>
              </a:lnSpc>
            </a:pPr>
            <a:r>
              <a:rPr sz="3500" b="1" spc="-35">
                <a:solidFill>
                  <a:srgbClr val="FFFFFF"/>
                </a:solidFill>
                <a:latin typeface="Pretendard"/>
                <a:latin typeface="Pretendard"/>
                <a:ea typeface="Pretendard"/>
                <a:cs typeface="Pretendard"/>
              </a:rPr>
              <a:t>100건~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5080000"/>
            <a:ext cx="3302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0" spc="-11">
                <a:solidFill>
                  <a:srgbClr val="C6D3FF"/>
                </a:solidFill>
                <a:latin typeface="Pretendard"/>
                <a:latin typeface="Pretendard"/>
                <a:ea typeface="Pretendard"/>
                <a:cs typeface="Pretendard"/>
              </a:rPr>
              <a:t>운영 행사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8000" y="4337050"/>
            <a:ext cx="3302000" cy="73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250"/>
              </a:lnSpc>
            </a:pPr>
            <a:r>
              <a:rPr sz="3500" b="1" spc="-35">
                <a:solidFill>
                  <a:srgbClr val="FFFFFF"/>
                </a:solidFill>
                <a:latin typeface="Pretendard"/>
                <a:latin typeface="Pretendard"/>
                <a:ea typeface="Pretendard"/>
                <a:cs typeface="Pretendard"/>
              </a:rPr>
              <a:t>20만명~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8000" y="5080000"/>
            <a:ext cx="3302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0" spc="-11">
                <a:solidFill>
                  <a:srgbClr val="C6D3FF"/>
                </a:solidFill>
                <a:latin typeface="Pretendard"/>
                <a:latin typeface="Pretendard"/>
                <a:ea typeface="Pretendard"/>
                <a:cs typeface="Pretendard"/>
              </a:rPr>
              <a:t>누적 참가자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74000" y="4337050"/>
            <a:ext cx="3302000" cy="73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250"/>
              </a:lnSpc>
            </a:pPr>
            <a:r>
              <a:rPr sz="3500" b="1" spc="-35">
                <a:solidFill>
                  <a:srgbClr val="FFFFFF"/>
                </a:solidFill>
                <a:latin typeface="Pretendard"/>
                <a:latin typeface="Pretendard"/>
                <a:ea typeface="Pretendard"/>
                <a:cs typeface="Pretendard"/>
              </a:rPr>
              <a:t>2~3일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74000" y="5080000"/>
            <a:ext cx="3302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0" spc="-11">
                <a:solidFill>
                  <a:srgbClr val="C6D3FF"/>
                </a:solidFill>
                <a:latin typeface="Pretendard"/>
                <a:latin typeface="Pretendard"/>
                <a:ea typeface="Pretendard"/>
                <a:cs typeface="Pretendard"/>
              </a:rPr>
              <a:t>평균 제작 기간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781050"/>
            <a:ext cx="5080000" cy="577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sz="2700" b="1" spc="-27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목차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167640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1841500"/>
            <a:ext cx="508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1" spc="-11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803400"/>
            <a:ext cx="27940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왜 메이크뷰인가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8000" y="1866900"/>
            <a:ext cx="571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고객사 · 메이크뷰가 다른 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0" y="1835150"/>
            <a:ext cx="12700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sz="1200" b="1" spc="-12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2000" y="219710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2000" y="2362200"/>
            <a:ext cx="508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1" spc="-11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24100"/>
            <a:ext cx="27940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고객 사례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8000" y="2387600"/>
            <a:ext cx="571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팝업/브랜드 · 지역축제/관광 · 컨퍼런스/박람회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60000" y="2355850"/>
            <a:ext cx="12700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sz="1200" b="1" spc="-12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2000" y="271780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2000" y="2882900"/>
            <a:ext cx="508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1" spc="-11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2844800"/>
            <a:ext cx="27940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플랜 안내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8000" y="2908300"/>
            <a:ext cx="571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이지 · 리드 · 데일리 플랜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60000" y="2876550"/>
            <a:ext cx="12700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sz="1200" b="1" spc="-12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2000" y="323850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000" y="3403600"/>
            <a:ext cx="508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1" spc="-11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365500"/>
            <a:ext cx="27940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이용 안내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18000" y="3429000"/>
            <a:ext cx="571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참여 프로세스 · 적립 방식 · 기능 옵션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60000" y="3397250"/>
            <a:ext cx="12700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sz="1200" b="1" spc="-12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08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2000" y="375920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2000" y="3924300"/>
            <a:ext cx="508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1" spc="-11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3886200"/>
            <a:ext cx="27940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실시간 운영 어드민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18000" y="3949700"/>
            <a:ext cx="571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어드민 5가지 기능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60000" y="3917950"/>
            <a:ext cx="12700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sz="1200" b="1" spc="-12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12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2000" y="427990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2000" y="4445000"/>
            <a:ext cx="508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1" spc="-11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4406900"/>
            <a:ext cx="27940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제작 프로세스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18000" y="4470400"/>
            <a:ext cx="571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평균 2~3일 제작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60000" y="4438650"/>
            <a:ext cx="12700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sz="1200" b="1" spc="-12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13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2000" y="480060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2000" y="4965700"/>
            <a:ext cx="508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1" spc="-11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4927600"/>
            <a:ext cx="27940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함께 운영하면 좋은 서비스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18000" y="4991100"/>
            <a:ext cx="571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샵플랜 · 모바일 페이지 제작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60000" y="4959350"/>
            <a:ext cx="12700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sz="1200" b="1" spc="-12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14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2000" y="532130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2000" y="5486400"/>
            <a:ext cx="508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1" spc="-11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71600" y="5448300"/>
            <a:ext cx="27940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자주 묻는 질문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18000" y="5511800"/>
            <a:ext cx="571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FAQ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60000" y="5480050"/>
            <a:ext cx="12700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sz="1200" b="1" spc="-12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16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62000" y="584200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01 왜 메이크뷰인가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고객사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881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검증된 이벤트 성공 파트너,</a:t>
            </a:r>
          </a:p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메이크뷰 QR 솔루션과 함께하세요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746250"/>
            <a:ext cx="8890000" cy="551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이미 다양한 고객사들이 메이크뷰 QR 솔루션과 함께하고 있어요!</a:t>
            </a:r>
          </a:p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글로벌 브랜드부터 지자체 축제까지 다양한 규모의 이벤트를 함께 운영했어요.</a:t>
            </a:r>
          </a:p>
        </p:txBody>
      </p:sp>
      <p:pic>
        <p:nvPicPr>
          <p:cNvPr id="9" name="Picture 8" descr="logo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800350"/>
            <a:ext cx="10668000" cy="2749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01 왜 메이크뷰인가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메이크뷰가 다른 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881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왜 메이크뷰 QR 솔루션을</a:t>
            </a:r>
          </a:p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선택해야 할까요?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746250"/>
            <a:ext cx="8890000" cy="307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종이 스탬프도, 앱도 아닌 메이크뷰를 선택해야 하는 세 가지 이유예요.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578100"/>
            <a:ext cx="3384550" cy="2857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05_ic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50" y="2749550"/>
            <a:ext cx="609600" cy="609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41400" y="3581400"/>
            <a:ext cx="282575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간단한 참여와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1400" y="3810000"/>
            <a:ext cx="2825750" cy="604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29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앱 설치도, 로그인도</a:t>
            </a:r>
          </a:p>
          <a:p>
            <a:pPr algn="l">
              <a:lnSpc>
                <a:spcPts val="2129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필요하지 않아요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1400" y="4546600"/>
            <a:ext cx="2825750" cy="266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QR 스캔으로 1초 만에 참여합니다. 현장에는 별도 인력이 필요하지 않고, 제공되는 어드민에서 모든 진행 상황을 파악하고 관리할 수 있어요.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0550" y="2578100"/>
            <a:ext cx="3384550" cy="2857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05_ic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2762250"/>
            <a:ext cx="584200" cy="584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679950" y="3581400"/>
            <a:ext cx="282575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브랜드 경험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9950" y="3810000"/>
            <a:ext cx="2825750" cy="604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29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템플릿에 맞추지 않고</a:t>
            </a:r>
          </a:p>
          <a:p>
            <a:pPr algn="l">
              <a:lnSpc>
                <a:spcPts val="2129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우리 브랜드 톤으로 커스텀해요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9950" y="4546600"/>
            <a:ext cx="2825750" cy="266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앱 기반 서비스는 정해진 화면에 로고만 얹습니다. 메이크뷰는 모든 페이지를 우리 브랜드의 톤앤매너로 커스텀 디자인할 수 있어요.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39100" y="2578100"/>
            <a:ext cx="3384550" cy="2857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p05_ic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4200" y="2724150"/>
            <a:ext cx="622300" cy="6223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318500" y="3581400"/>
            <a:ext cx="282575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성과 측정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8500" y="3810000"/>
            <a:ext cx="2825750" cy="604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29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참여 결과를 구체적인</a:t>
            </a:r>
          </a:p>
          <a:p>
            <a:pPr algn="l">
              <a:lnSpc>
                <a:spcPts val="2129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데이터로 수집해요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8500" y="4546600"/>
            <a:ext cx="2825750" cy="266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누가 언제 참여했는지 실시간으로 데이터를 수집해요. 엑셀로 다운로드 받아 이벤트 종료 후에 보고서와 후속 마케팅 등에 활용하세요.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02 고객 사례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고객 사례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메이크뷰 QR 솔루션과 함께한 고객사들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339850"/>
            <a:ext cx="8890000" cy="307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어떤 행사에서 어떤 목적으로, 어떻게 운영했는지 확인해 보세요.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032000"/>
            <a:ext cx="3384550" cy="368300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06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032000"/>
            <a:ext cx="3384550" cy="20320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41400" y="4216400"/>
            <a:ext cx="711200" cy="234950"/>
          </a:xfrm>
          <a:prstGeom prst="roundRect">
            <a:avLst>
              <a:gd name="adj" fmla="val 45945"/>
            </a:avLst>
          </a:prstGeom>
          <a:solidFill>
            <a:srgbClr val="EE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1400" y="4216400"/>
            <a:ext cx="711200" cy="234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팝업 · 브랜드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1400" y="4565650"/>
            <a:ext cx="2825750" cy="297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46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올리브영 X 망그러진 곰 팝업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1400" y="4927600"/>
            <a:ext cx="2825750" cy="266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외국인 방문객까지 진입 장벽 없이 참여시키기 위해 4개국 언어를 지원하고, 매장 내에 QR을 숨겨두어 자연스럽게 구매 동선을 유도했어요.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00550" y="2032000"/>
            <a:ext cx="3384550" cy="368300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p06_im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0550" y="2032000"/>
            <a:ext cx="3384550" cy="203200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4679950" y="4216400"/>
            <a:ext cx="825500" cy="234950"/>
          </a:xfrm>
          <a:prstGeom prst="roundRect">
            <a:avLst>
              <a:gd name="adj" fmla="val 45945"/>
            </a:avLst>
          </a:prstGeom>
          <a:solidFill>
            <a:srgbClr val="EE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79950" y="4216400"/>
            <a:ext cx="825500" cy="234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지역 축제 · 관광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79950" y="4565650"/>
            <a:ext cx="2825750" cy="297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46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실레마을 시간여행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79950" y="4927600"/>
            <a:ext cx="2825750" cy="266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마을 전체를 코스로, GPS 기반의 퀴즈형 스탬프 투어를 운영했어요. 특정 위치 도착 시 자동으로 퀴즈가 뜨는 간편한 방식이에요.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39100" y="2032000"/>
            <a:ext cx="3384550" cy="368300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p06_img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9100" y="2032000"/>
            <a:ext cx="3384550" cy="203200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8318500" y="4216400"/>
            <a:ext cx="889000" cy="234950"/>
          </a:xfrm>
          <a:prstGeom prst="roundRect">
            <a:avLst>
              <a:gd name="adj" fmla="val 45945"/>
            </a:avLst>
          </a:prstGeom>
          <a:solidFill>
            <a:srgbClr val="EE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18500" y="4216400"/>
            <a:ext cx="889000" cy="234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컨퍼런스 · 박람회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8500" y="4565650"/>
            <a:ext cx="2825750" cy="297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46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마이크로소프트 AI 투어 서울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18500" y="4927600"/>
            <a:ext cx="2825750" cy="266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컨퍼런스 참가자의 동선 유도를 위해 부스마다 QR 을 두고 참여 방식을 최대한 단순하게 만들어서, 부스 방문율이 2배 이상 올랐어요.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03 플랜 안내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플랜 안내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자세한 가격과 구성을 확인하세요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339850"/>
            <a:ext cx="8890000" cy="307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본인 인증 여부와 사용 기간, 스탬프 횟수에 따라 세 가지 플랜으로 나뉘어요.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032000"/>
            <a:ext cx="3384550" cy="375920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1400" y="2286000"/>
            <a:ext cx="282575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참여율이 가장 중요할 때</a:t>
            </a:r>
          </a:p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본인인증 없이 참여하는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1400" y="2743200"/>
            <a:ext cx="282575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000" b="1" spc="-20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이지 플랜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41400" y="3238500"/>
            <a:ext cx="508000" cy="215900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1400" y="3238500"/>
            <a:ext cx="5080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50"/>
              </a:lnSpc>
            </a:pPr>
            <a:r>
              <a:rPr sz="700" b="1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지역축제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12900" y="3238500"/>
            <a:ext cx="679450" cy="215900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12900" y="3238500"/>
            <a:ext cx="67945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50"/>
              </a:lnSpc>
            </a:pPr>
            <a:r>
              <a:rPr sz="700" b="1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대규모 박람회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1400" y="3644900"/>
            <a:ext cx="282575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1400" y="3841750"/>
            <a:ext cx="190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본인 인증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1400" y="384175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없음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1400" y="4171950"/>
            <a:ext cx="190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사용 기간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1400" y="417195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7일~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1400" y="4502150"/>
            <a:ext cx="190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스탬프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1400" y="450215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5회~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41400" y="4870450"/>
            <a:ext cx="282575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1400" y="506730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가격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1400" y="5245100"/>
            <a:ext cx="2825750" cy="48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2200" b="1" spc="-2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100만원~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00550" y="2032000"/>
            <a:ext cx="3384550" cy="375920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79950" y="2286000"/>
            <a:ext cx="282575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이벤트 참여자의</a:t>
            </a:r>
          </a:p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개인 정보 수집이 가능한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79950" y="2743200"/>
            <a:ext cx="282575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000" b="1" spc="-20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리드 플랜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79950" y="3238500"/>
            <a:ext cx="609600" cy="215900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79950" y="3238500"/>
            <a:ext cx="6096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50"/>
              </a:lnSpc>
            </a:pPr>
            <a:r>
              <a:rPr sz="700" b="1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신제품 팝업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53050" y="3238500"/>
            <a:ext cx="609600" cy="215900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53050" y="3238500"/>
            <a:ext cx="6096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50"/>
              </a:lnSpc>
            </a:pPr>
            <a:r>
              <a:rPr sz="700" b="1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기업 세미나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79950" y="3644900"/>
            <a:ext cx="282575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79950" y="3841750"/>
            <a:ext cx="190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본인 인증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79950" y="384175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휴대폰 / 이메일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79950" y="4171950"/>
            <a:ext cx="190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사용 기간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79950" y="417195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7일~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79950" y="4502150"/>
            <a:ext cx="190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스탬프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79950" y="450215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5회~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79950" y="4870450"/>
            <a:ext cx="282575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79950" y="506730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가격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79950" y="5245100"/>
            <a:ext cx="2825750" cy="48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2200" b="1" spc="-2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200만원~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39100" y="2032000"/>
            <a:ext cx="3384550" cy="375920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18500" y="2286000"/>
            <a:ext cx="282575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출석 체크 방식으로</a:t>
            </a:r>
          </a:p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재방문을 유도하는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18500" y="2743200"/>
            <a:ext cx="282575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000" b="1" spc="-20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데일리 플랜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318500" y="3238500"/>
            <a:ext cx="438150" cy="215900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18500" y="3238500"/>
            <a:ext cx="43815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50"/>
              </a:lnSpc>
            </a:pPr>
            <a:r>
              <a:rPr sz="700" b="1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항공사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820150" y="3238500"/>
            <a:ext cx="438150" cy="215900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820150" y="3238500"/>
            <a:ext cx="43815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50"/>
              </a:lnSpc>
            </a:pPr>
            <a:r>
              <a:rPr sz="700" b="1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백화점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321800" y="3238500"/>
            <a:ext cx="539750" cy="215900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321800" y="3238500"/>
            <a:ext cx="53975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50"/>
              </a:lnSpc>
            </a:pPr>
            <a:r>
              <a:rPr sz="700" b="1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F&amp;B 매장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318500" y="3644900"/>
            <a:ext cx="282575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18500" y="3841750"/>
            <a:ext cx="190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본인 인증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18500" y="384175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휴대폰 / 이메일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18500" y="4171950"/>
            <a:ext cx="190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사용 기간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18500" y="417195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90일~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18500" y="4502150"/>
            <a:ext cx="190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스탬프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18500" y="450215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10회~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318500" y="4870450"/>
            <a:ext cx="282575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318500" y="506730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가격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18500" y="5245100"/>
            <a:ext cx="2825750" cy="48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2200" b="1" spc="-2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200만원~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04 이용 안내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이용 안내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실제 스탬프 투어는 이렇게 운영돼요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339850"/>
            <a:ext cx="8890000" cy="307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참여 순서부터 운영 방식, 추가할 수 있는 기능까지 한 번에 확인해 보세요.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032000"/>
            <a:ext cx="1250950" cy="355600"/>
          </a:xfrm>
          <a:prstGeom prst="roundRect">
            <a:avLst>
              <a:gd name="adj" fmla="val 50000"/>
            </a:avLst>
          </a:prstGeom>
          <a:solidFill>
            <a:srgbClr val="EE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4250" y="2032000"/>
            <a:ext cx="125095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25"/>
              </a:lnSpc>
            </a:pPr>
            <a:r>
              <a:rPr sz="95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이지 플랜 ·</a:t>
            </a:r>
            <a:r>
              <a:rPr sz="950" b="1" spc="-10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 3단계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14550" y="2032000"/>
            <a:ext cx="1651000" cy="355600"/>
          </a:xfrm>
          <a:prstGeom prst="roundRect">
            <a:avLst>
              <a:gd name="adj" fmla="val 50000"/>
            </a:avLst>
          </a:prstGeom>
          <a:solidFill>
            <a:srgbClr val="EE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36800" y="2032000"/>
            <a:ext cx="1651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25"/>
              </a:lnSpc>
            </a:pPr>
            <a:r>
              <a:rPr sz="95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리드 · 데일리 플랜 · </a:t>
            </a:r>
            <a:r>
              <a:rPr sz="950" b="1" spc="-10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4단계</a:t>
            </a:r>
          </a:p>
        </p:txBody>
      </p:sp>
      <p:pic>
        <p:nvPicPr>
          <p:cNvPr id="13" name="Picture 12" descr="p08_car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571750"/>
            <a:ext cx="2476500" cy="3111500"/>
          </a:xfrm>
          <a:prstGeom prst="rect">
            <a:avLst/>
          </a:prstGeom>
        </p:spPr>
      </p:pic>
      <p:pic>
        <p:nvPicPr>
          <p:cNvPr id="14" name="Picture 13" descr="p08_card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2571750"/>
            <a:ext cx="2476500" cy="31115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3492500" y="2571750"/>
            <a:ext cx="2476500" cy="31115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6350">
            <a:solidFill>
              <a:srgbClr val="4B7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11650" y="2463800"/>
            <a:ext cx="844550" cy="215900"/>
          </a:xfrm>
          <a:prstGeom prst="roundRect">
            <a:avLst>
              <a:gd name="adj" fmla="val 50000"/>
            </a:avLst>
          </a:prstGeom>
          <a:solidFill>
            <a:srgbClr val="4B7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11650" y="2463800"/>
            <a:ext cx="84455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50"/>
              </a:lnSpc>
            </a:pPr>
            <a:r>
              <a:rPr sz="700" b="1" spc="-7">
                <a:solidFill>
                  <a:srgbClr val="FFFFFF"/>
                </a:solidFill>
                <a:latin typeface="Pretendard"/>
                <a:latin typeface="Pretendard"/>
                <a:ea typeface="Pretendard"/>
                <a:cs typeface="Pretendard"/>
              </a:rPr>
              <a:t>리드 · 데일리 플랜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2500" y="2800350"/>
            <a:ext cx="2476500" cy="311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본인 인증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92500" y="3060700"/>
            <a:ext cx="2476500" cy="257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3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휴대폰 / 이메일 인증을 완료해요</a:t>
            </a:r>
          </a:p>
        </p:txBody>
      </p:sp>
      <p:pic>
        <p:nvPicPr>
          <p:cNvPr id="20" name="Picture 19" descr="p08_mock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4150" y="3422650"/>
            <a:ext cx="1974850" cy="234950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8953500" y="2571750"/>
            <a:ext cx="2476500" cy="31115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53500" y="2800350"/>
            <a:ext cx="2476500" cy="311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리워드 수령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53500" y="3060700"/>
            <a:ext cx="2476500" cy="257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3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스탬프를 다 모으고 리워드를 받아요</a:t>
            </a:r>
          </a:p>
        </p:txBody>
      </p:sp>
      <p:pic>
        <p:nvPicPr>
          <p:cNvPr id="24" name="Picture 23" descr="p08_mock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55150" y="3422650"/>
            <a:ext cx="1974850" cy="23304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302000" y="3937000"/>
            <a:ext cx="254000" cy="48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2200" b="1" spc="-22">
                <a:solidFill>
                  <a:srgbClr val="C2C7CD"/>
                </a:solidFill>
                <a:latin typeface="Pretendard"/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2500" y="3937000"/>
            <a:ext cx="254000" cy="48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2200" b="1" spc="-22">
                <a:solidFill>
                  <a:srgbClr val="C2C7CD"/>
                </a:solidFill>
                <a:latin typeface="Pretendard"/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63000" y="3937000"/>
            <a:ext cx="254000" cy="48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2200" b="1" spc="-22">
                <a:solidFill>
                  <a:srgbClr val="C2C7CD"/>
                </a:solidFill>
                <a:latin typeface="Pretendard"/>
                <a:latin typeface="Pretendard"/>
                <a:ea typeface="Pretendard"/>
                <a:cs typeface="Pretendard"/>
              </a:rPr>
              <a:t>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04 이용 안내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적립 방식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881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이벤트 성격에 맞는 보안과 편의성에 따라</a:t>
            </a:r>
          </a:p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자유롭게 선택하세요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746250"/>
            <a:ext cx="8890000" cy="307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QR 스캔 · NFC 태그 · 위치 기반(GPS) 세 가지를 지원하고, 두 가지를 함께 쓸 수도 있어요.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571750"/>
            <a:ext cx="3384550" cy="3213100"/>
          </a:xfrm>
          <a:prstGeom prst="roundRect">
            <a:avLst>
              <a:gd name="adj" fmla="val 3557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09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400" y="2851150"/>
            <a:ext cx="2825750" cy="18859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41400" y="4889500"/>
            <a:ext cx="282575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QR 스캔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1400" y="5219700"/>
            <a:ext cx="2825750" cy="266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현장에 비치한 QR을 스캔하면 바로 적립돼요. 가장 익숙하고 준비가 간단한 방식이에요.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0550" y="2571750"/>
            <a:ext cx="3384550" cy="3213100"/>
          </a:xfrm>
          <a:prstGeom prst="roundRect">
            <a:avLst>
              <a:gd name="adj" fmla="val 3557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09_im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9950" y="2851150"/>
            <a:ext cx="2825750" cy="18859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679950" y="4889500"/>
            <a:ext cx="282575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NFC 태그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9950" y="5219700"/>
            <a:ext cx="2825750" cy="266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스티커에 휴대폰을 태그하면 적립돼요. 유출이나 허위 적립 걱정이 없어요.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39100" y="2571750"/>
            <a:ext cx="3384550" cy="3213100"/>
          </a:xfrm>
          <a:prstGeom prst="roundRect">
            <a:avLst>
              <a:gd name="adj" fmla="val 3557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p09_img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8500" y="2851150"/>
            <a:ext cx="2825750" cy="18859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318500" y="4889500"/>
            <a:ext cx="282575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위치 기반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8500" y="5219700"/>
            <a:ext cx="2825750" cy="266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정해진 존 안에 들어오면 적립이 가능해요. 참여자의 동선을 자연스럽게 유도할 수 있어요.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04 이용 안내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기능 옵션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모든 항목은 사전 협의를 통해 조정 가능해요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339850"/>
            <a:ext cx="8890000" cy="307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필요한 기능만 골라서 더할 수 있어요.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032000"/>
            <a:ext cx="2476500" cy="2698750"/>
          </a:xfrm>
          <a:prstGeom prst="roundRect">
            <a:avLst>
              <a:gd name="adj" fmla="val 4102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0600" y="2216150"/>
            <a:ext cx="2019300" cy="2768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200" b="1" spc="-1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퀴즈 ∙ 미션 설정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600" y="2508250"/>
            <a:ext cx="2019300" cy="246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40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퀴즈, 웹사이트 방문, 가입 등의 미션을 수행해야 스탬프 적립이 가능해요</a:t>
            </a:r>
          </a:p>
        </p:txBody>
      </p:sp>
      <p:pic>
        <p:nvPicPr>
          <p:cNvPr id="12" name="Picture 11" descr="p10_il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250" y="3054350"/>
            <a:ext cx="1270000" cy="16764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3492500" y="2032000"/>
            <a:ext cx="2476500" cy="2698750"/>
          </a:xfrm>
          <a:prstGeom prst="roundRect">
            <a:avLst>
              <a:gd name="adj" fmla="val 4102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21100" y="2216150"/>
            <a:ext cx="2019300" cy="2768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200" b="1" spc="-1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설문 추가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21100" y="2508250"/>
            <a:ext cx="2019300" cy="429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40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현장 만족도 조사 등 원하는 질문으로</a:t>
            </a:r>
          </a:p>
          <a:p>
            <a:pPr algn="ctr">
              <a:lnSpc>
                <a:spcPts val="1440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답변을 받을 수 있어요</a:t>
            </a:r>
          </a:p>
        </p:txBody>
      </p:sp>
      <p:pic>
        <p:nvPicPr>
          <p:cNvPr id="16" name="Picture 15" descr="p10_il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5750" y="3054350"/>
            <a:ext cx="1270000" cy="167640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6223000" y="2032000"/>
            <a:ext cx="2476500" cy="2698750"/>
          </a:xfrm>
          <a:prstGeom prst="roundRect">
            <a:avLst>
              <a:gd name="adj" fmla="val 4102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1600" y="2216150"/>
            <a:ext cx="2019300" cy="2768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200" b="1" spc="-1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룰렛으로 리워드 지급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1600" y="2508250"/>
            <a:ext cx="2019300" cy="429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40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당첨 확률을 조정해 리워드 예산을</a:t>
            </a:r>
          </a:p>
          <a:p>
            <a:pPr algn="ctr">
              <a:lnSpc>
                <a:spcPts val="1440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효율적으로 관리해요</a:t>
            </a:r>
          </a:p>
        </p:txBody>
      </p:sp>
      <p:pic>
        <p:nvPicPr>
          <p:cNvPr id="20" name="Picture 19" descr="p10_il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6250" y="3054350"/>
            <a:ext cx="1270000" cy="167640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8953500" y="2032000"/>
            <a:ext cx="2476500" cy="2698750"/>
          </a:xfrm>
          <a:prstGeom prst="roundRect">
            <a:avLst>
              <a:gd name="adj" fmla="val 4102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2100" y="2216150"/>
            <a:ext cx="2019300" cy="2768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200" b="1" spc="-1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커스텀 디자인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2100" y="2508250"/>
            <a:ext cx="2019300" cy="429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40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행사 컨셉과 브랜드 톤앤매너에 맞춰</a:t>
            </a:r>
          </a:p>
          <a:p>
            <a:pPr algn="ctr">
              <a:lnSpc>
                <a:spcPts val="1440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모든 화면을 커스텀 디자인 가능해요</a:t>
            </a:r>
          </a:p>
        </p:txBody>
      </p:sp>
      <p:pic>
        <p:nvPicPr>
          <p:cNvPr id="24" name="Picture 23" descr="p10_il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6750" y="3054350"/>
            <a:ext cx="1270000" cy="1676400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762000" y="4978400"/>
            <a:ext cx="2476500" cy="825500"/>
          </a:xfrm>
          <a:prstGeom prst="roundRect">
            <a:avLst>
              <a:gd name="adj" fmla="val 12307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p10_ic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050" y="5124450"/>
            <a:ext cx="317500" cy="3175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371600" y="5105400"/>
            <a:ext cx="170815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사용 기간 연장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334000"/>
            <a:ext cx="1708150" cy="226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8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행사 기간에 맞게 자유롭게 연장할 수 있어요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92500" y="4978400"/>
            <a:ext cx="2476500" cy="825500"/>
          </a:xfrm>
          <a:prstGeom prst="roundRect">
            <a:avLst>
              <a:gd name="adj" fmla="val 12307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p10_ic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38550" y="5124450"/>
            <a:ext cx="317500" cy="3175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102100" y="5105400"/>
            <a:ext cx="170815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스탬프 갯수 추가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02100" y="5334000"/>
            <a:ext cx="1708150" cy="388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8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스탬프 개수를 추가하고 고객 체류 시간을</a:t>
            </a:r>
          </a:p>
          <a:p>
            <a:pPr algn="l">
              <a:lnSpc>
                <a:spcPts val="128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늘려보세요.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23000" y="4978400"/>
            <a:ext cx="2476500" cy="825500"/>
          </a:xfrm>
          <a:prstGeom prst="roundRect">
            <a:avLst>
              <a:gd name="adj" fmla="val 12307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p10_ic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69050" y="5124450"/>
            <a:ext cx="317500" cy="3175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832600" y="5105400"/>
            <a:ext cx="170815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리워드 자동 발송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32600" y="5334000"/>
            <a:ext cx="1708150" cy="388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8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추가 인력 없이 모바일 기프티콘을</a:t>
            </a:r>
          </a:p>
          <a:p>
            <a:pPr algn="l">
              <a:lnSpc>
                <a:spcPts val="128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빠르게 지급해요.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53500" y="4978400"/>
            <a:ext cx="2476500" cy="825500"/>
          </a:xfrm>
          <a:prstGeom prst="roundRect">
            <a:avLst>
              <a:gd name="adj" fmla="val 12307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p10_ic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99550" y="5124450"/>
            <a:ext cx="317500" cy="3175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9563100" y="5105400"/>
            <a:ext cx="170815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다국어 지원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63100" y="5334000"/>
            <a:ext cx="1708150" cy="388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8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해외 방문객이 많은 행사라면</a:t>
            </a:r>
          </a:p>
          <a:p>
            <a:pPr algn="l">
              <a:lnSpc>
                <a:spcPts val="128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언어 옵션을 추가해보세요.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04 이용 안내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유연한 운영 방식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상황에 맞게 이렇게도 쓸 수 있어요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339850"/>
            <a:ext cx="8890000" cy="307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현장 조건과 일정에 따라 적립 · 운영 방식을 다르게 설계해요.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032000"/>
            <a:ext cx="5207000" cy="368300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11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032000"/>
            <a:ext cx="5207000" cy="2603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41400" y="4787900"/>
            <a:ext cx="46482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QR + GPS 함께 사용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1400" y="5137150"/>
            <a:ext cx="4648200" cy="266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스캔 후 GPS 위치까지 확인되면 적립이 완료돼요. QR 이미지가 유출돼도 허위 적립을 막을 수 있고, QR 위치까지 이동해야 해서 더 구체적인 동선 유도가 가능해요.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3000" y="2032000"/>
            <a:ext cx="5207000" cy="368300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11_im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2032000"/>
            <a:ext cx="5207000" cy="2603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02400" y="4787900"/>
            <a:ext cx="46482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퀵스탬프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2400" y="5137150"/>
            <a:ext cx="4648200" cy="266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스탬프 적립 페이지만 운영하는 간단한 방식이에요. 자유로운 방식의 리워드 지급이 가능하며, 추가 페이지를 만들지 않아 합리적인 가격에 빠른 제작이 가능합니다.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05 실시간 운영 어드민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실시간 운영 어드민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4445000" cy="881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이벤트가 열린 뒤에도</a:t>
            </a:r>
          </a:p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운영은 어드민 한 곳에서 끝내요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746250"/>
            <a:ext cx="3937000" cy="307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현황을 실시간으로 확인하고, 필요한 건 바로 수정할 수 있어요.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647950"/>
            <a:ext cx="4965700" cy="1638300"/>
          </a:xfrm>
          <a:prstGeom prst="roundRect">
            <a:avLst>
              <a:gd name="adj" fmla="val 6201"/>
            </a:avLst>
          </a:prstGeom>
          <a:solidFill>
            <a:srgbClr val="F7F8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6000" y="2800350"/>
            <a:ext cx="381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2978150"/>
            <a:ext cx="1524000" cy="29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실시간 요약 데이터 확인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000" y="3333750"/>
            <a:ext cx="1587500" cy="4475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참여 수, 완주율 등 핵심 지표를</a:t>
            </a:r>
          </a:p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한눈에 확인하세요.</a:t>
            </a:r>
          </a:p>
        </p:txBody>
      </p:sp>
      <p:pic>
        <p:nvPicPr>
          <p:cNvPr id="13" name="Picture 12" descr="p12_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0500" y="2800350"/>
            <a:ext cx="2743200" cy="13335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62000" y="4438650"/>
            <a:ext cx="4965700" cy="1638300"/>
          </a:xfrm>
          <a:prstGeom prst="roundRect">
            <a:avLst>
              <a:gd name="adj" fmla="val 6201"/>
            </a:avLst>
          </a:prstGeom>
          <a:solidFill>
            <a:srgbClr val="F7F8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6000" y="4591050"/>
            <a:ext cx="381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6000" y="4768850"/>
            <a:ext cx="1524000" cy="29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참여자 상태 변경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6000" y="5124450"/>
            <a:ext cx="1587500" cy="4475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스탬프 적립, 리워드 수령 등의</a:t>
            </a:r>
          </a:p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참여자 상태를 변경할 수 있어요.</a:t>
            </a:r>
          </a:p>
        </p:txBody>
      </p:sp>
      <p:pic>
        <p:nvPicPr>
          <p:cNvPr id="18" name="Picture 17" descr="p12_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0500" y="4591050"/>
            <a:ext cx="2743200" cy="133350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464300" y="857250"/>
            <a:ext cx="4965700" cy="1638300"/>
          </a:xfrm>
          <a:prstGeom prst="roundRect">
            <a:avLst>
              <a:gd name="adj" fmla="val 6201"/>
            </a:avLst>
          </a:prstGeom>
          <a:solidFill>
            <a:srgbClr val="F7F8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18300" y="1009650"/>
            <a:ext cx="381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18300" y="1187450"/>
            <a:ext cx="1524000" cy="29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룰렛 확률 조정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18300" y="1543050"/>
            <a:ext cx="1587500" cy="6395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리워드별 당첨 확률 및 당첨</a:t>
            </a:r>
          </a:p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가능 개수를 현장 상황에 맞게</a:t>
            </a:r>
          </a:p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조정하세요.</a:t>
            </a:r>
          </a:p>
        </p:txBody>
      </p:sp>
      <p:pic>
        <p:nvPicPr>
          <p:cNvPr id="23" name="Picture 22" descr="p12_v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2800" y="1009650"/>
            <a:ext cx="2743200" cy="1333500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6464300" y="2647950"/>
            <a:ext cx="4965700" cy="1638300"/>
          </a:xfrm>
          <a:prstGeom prst="roundRect">
            <a:avLst>
              <a:gd name="adj" fmla="val 6201"/>
            </a:avLst>
          </a:prstGeom>
          <a:solidFill>
            <a:srgbClr val="F7F8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18300" y="2800350"/>
            <a:ext cx="381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18300" y="2978150"/>
            <a:ext cx="1524000" cy="29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설문 응답 확인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18300" y="3333750"/>
            <a:ext cx="1587500" cy="4475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실시간 응답 데이터를 답변자별,</a:t>
            </a:r>
          </a:p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문항별로 확인하세요.</a:t>
            </a:r>
          </a:p>
        </p:txBody>
      </p:sp>
      <p:pic>
        <p:nvPicPr>
          <p:cNvPr id="28" name="Picture 27" descr="p12_v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2800" y="2800350"/>
            <a:ext cx="2743200" cy="1333500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6464300" y="4438650"/>
            <a:ext cx="4965700" cy="1638300"/>
          </a:xfrm>
          <a:prstGeom prst="roundRect">
            <a:avLst>
              <a:gd name="adj" fmla="val 6201"/>
            </a:avLst>
          </a:prstGeom>
          <a:solidFill>
            <a:srgbClr val="F7F8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18300" y="4591050"/>
            <a:ext cx="381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18300" y="4768850"/>
            <a:ext cx="1524000" cy="29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참여자 데이터 다운로드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18300" y="5124450"/>
            <a:ext cx="1587500" cy="6395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참여 데이터를 엑셀 파일로 받아</a:t>
            </a:r>
          </a:p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후속 마케팅과 보고서 등에</a:t>
            </a:r>
          </a:p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활용하세요.</a:t>
            </a:r>
          </a:p>
        </p:txBody>
      </p:sp>
      <p:pic>
        <p:nvPicPr>
          <p:cNvPr id="33" name="Picture 32" descr="p12_v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2800" y="4591050"/>
            <a:ext cx="2743200" cy="133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06 제작 프로세스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제작 프로세스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881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우리 브랜드에 딱 맞는 스탬프 투어!</a:t>
            </a:r>
          </a:p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평균 2~3일이면 완성됩니다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2000" y="2203450"/>
            <a:ext cx="1905000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9800" y="2381250"/>
            <a:ext cx="1625600" cy="596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sz="2800" b="1" spc="-28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9800" y="2990850"/>
            <a:ext cx="1625600" cy="615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요청사항</a:t>
            </a:r>
          </a:p>
          <a:p>
            <a:pPr algn="l">
              <a:lnSpc>
                <a:spcPts val="2175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접수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55900" y="2774950"/>
            <a:ext cx="254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000" b="1" spc="-20">
                <a:solidFill>
                  <a:srgbClr val="C2C7CD"/>
                </a:solidFill>
                <a:latin typeface="Pretendard"/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40050" y="2203450"/>
            <a:ext cx="1905000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4B7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17850" y="2381250"/>
            <a:ext cx="1625600" cy="596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sz="2800" b="1" spc="-28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17850" y="2990850"/>
            <a:ext cx="1625600" cy="615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페이지</a:t>
            </a:r>
          </a:p>
          <a:p>
            <a:pPr algn="l">
              <a:lnSpc>
                <a:spcPts val="2175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디자인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3950" y="2774950"/>
            <a:ext cx="254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000" b="1" spc="-20">
                <a:solidFill>
                  <a:srgbClr val="C2C7CD"/>
                </a:solidFill>
                <a:latin typeface="Pretendard"/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18100" y="2203450"/>
            <a:ext cx="1905000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4B7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95900" y="2381250"/>
            <a:ext cx="1625600" cy="596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sz="2800" b="1" spc="-28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95900" y="2990850"/>
            <a:ext cx="1625600" cy="615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개발</a:t>
            </a:r>
          </a:p>
          <a:p>
            <a:pPr algn="l">
              <a:lnSpc>
                <a:spcPts val="2175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진행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12000" y="2774950"/>
            <a:ext cx="254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000" b="1" spc="-20">
                <a:solidFill>
                  <a:srgbClr val="C2C7CD"/>
                </a:solidFill>
                <a:latin typeface="Pretendard"/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96150" y="2203450"/>
            <a:ext cx="1905000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4B7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73950" y="2381250"/>
            <a:ext cx="1625600" cy="596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sz="2800" b="1" spc="-28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73950" y="2990850"/>
            <a:ext cx="1625600" cy="615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검수 및</a:t>
            </a:r>
          </a:p>
          <a:p>
            <a:pPr algn="l">
              <a:lnSpc>
                <a:spcPts val="2175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오픈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050" y="2774950"/>
            <a:ext cx="254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000" b="1" spc="-20">
                <a:solidFill>
                  <a:srgbClr val="C2C7CD"/>
                </a:solidFill>
                <a:latin typeface="Pretendard"/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74200" y="2203450"/>
            <a:ext cx="1905000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52000" y="2381250"/>
            <a:ext cx="1625600" cy="596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sz="2800" b="1" spc="-28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52000" y="2990850"/>
            <a:ext cx="1625600" cy="615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운영 데이터</a:t>
            </a:r>
          </a:p>
          <a:p>
            <a:pPr algn="l">
              <a:lnSpc>
                <a:spcPts val="2175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전달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2000" y="3981450"/>
            <a:ext cx="10668000" cy="1778000"/>
          </a:xfrm>
          <a:prstGeom prst="roundRect">
            <a:avLst>
              <a:gd name="adj" fmla="val 6428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96000" y="4235450"/>
            <a:ext cx="9525" cy="1270000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1400" y="4235450"/>
            <a:ext cx="444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제작 기간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1400" y="4565650"/>
            <a:ext cx="444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커스텀 요청 사항이 없으면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1400" y="4743450"/>
            <a:ext cx="4445000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600" b="1" spc="-16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1일 안에 완성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41400" y="5124450"/>
            <a:ext cx="4445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1400" y="5251450"/>
            <a:ext cx="444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커스텀 요청이 있을 경우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1400" y="5429250"/>
            <a:ext cx="4445000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600" b="1" spc="-16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약 2주 소요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02400" y="4235450"/>
            <a:ext cx="444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커스텀 · 수정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02400" y="4565650"/>
            <a:ext cx="444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커스텀 디자인 적용 범위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02400" y="4743450"/>
            <a:ext cx="4445000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600" b="1" spc="-16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모든 페이지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02400" y="5124450"/>
            <a:ext cx="4445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02400" y="5251450"/>
            <a:ext cx="444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운영 중 이미지 수정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02400" y="5429250"/>
            <a:ext cx="4445000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600" b="1" spc="-16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언제든 즉시 반영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07 함께 운영하면 좋은 서비스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단말기 없이 QR 하나로 시작하는 결제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샵플랜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339850"/>
            <a:ext cx="8890000" cy="551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단기 행사를 위한 QR 결제, QR 하나로 끝내세요.</a:t>
            </a:r>
          </a:p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단말기 대여 없이 카드 ∙ 간편결제 ∙ 계좌이체를 받을 수 있어요.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159000"/>
            <a:ext cx="2476500" cy="15875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52500" y="2349500"/>
            <a:ext cx="355600" cy="355600"/>
          </a:xfrm>
          <a:prstGeom prst="roundRect">
            <a:avLst>
              <a:gd name="adj" fmla="val 25000"/>
            </a:avLst>
          </a:prstGeom>
          <a:solidFill>
            <a:srgbClr val="F7F8FA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14_i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" y="2368550"/>
            <a:ext cx="317500" cy="317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52500" y="2908300"/>
            <a:ext cx="2095500" cy="28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spc="-1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단말기 없이 QR로만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500" y="3162300"/>
            <a:ext cx="2133600" cy="4197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2"/>
              </a:lnSpc>
            </a:pPr>
            <a:r>
              <a:rPr sz="85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단말기 대여 ∙ 설치 없이,</a:t>
            </a:r>
          </a:p>
          <a:p>
            <a:pPr algn="l">
              <a:lnSpc>
                <a:spcPts val="1402"/>
              </a:lnSpc>
            </a:pPr>
            <a:r>
              <a:rPr sz="85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QR 하나로 판매가 가능합니다.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92500" y="2159000"/>
            <a:ext cx="2476500" cy="15875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83000" y="2349500"/>
            <a:ext cx="355600" cy="355600"/>
          </a:xfrm>
          <a:prstGeom prst="roundRect">
            <a:avLst>
              <a:gd name="adj" fmla="val 25000"/>
            </a:avLst>
          </a:prstGeom>
          <a:solidFill>
            <a:srgbClr val="F7F8FA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p14_ic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2050" y="2368550"/>
            <a:ext cx="317500" cy="3175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683000" y="2908300"/>
            <a:ext cx="2095500" cy="28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spc="-1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복잡한 심사 없이 시작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3000" y="3162300"/>
            <a:ext cx="2133600" cy="4197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2"/>
              </a:lnSpc>
            </a:pPr>
            <a:r>
              <a:rPr sz="85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PG 심사 ∙ 복잡한 계약 없이</a:t>
            </a:r>
          </a:p>
          <a:p>
            <a:pPr algn="l">
              <a:lnSpc>
                <a:spcPts val="1402"/>
              </a:lnSpc>
            </a:pPr>
            <a:r>
              <a:rPr sz="85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이벤트 진행이 가능합니다.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23000" y="2159000"/>
            <a:ext cx="2476500" cy="15875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13500" y="2349500"/>
            <a:ext cx="355600" cy="355600"/>
          </a:xfrm>
          <a:prstGeom prst="roundRect">
            <a:avLst>
              <a:gd name="adj" fmla="val 25000"/>
            </a:avLst>
          </a:prstGeom>
          <a:solidFill>
            <a:srgbClr val="F7F8FA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p14_ic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2550" y="2368550"/>
            <a:ext cx="317500" cy="3175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413500" y="2908300"/>
            <a:ext cx="2095500" cy="28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spc="-1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부담없이 0원 시작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3500" y="3162300"/>
            <a:ext cx="2133600" cy="4197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2"/>
              </a:lnSpc>
            </a:pPr>
            <a:r>
              <a:rPr sz="85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0원으로 시작하고, 판매 수수료만</a:t>
            </a:r>
          </a:p>
          <a:p>
            <a:pPr algn="l">
              <a:lnSpc>
                <a:spcPts val="1402"/>
              </a:lnSpc>
            </a:pPr>
            <a:r>
              <a:rPr sz="85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부담합니다. (최소 이용비 10만원)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53500" y="2159000"/>
            <a:ext cx="2476500" cy="15875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44000" y="2349500"/>
            <a:ext cx="355600" cy="355600"/>
          </a:xfrm>
          <a:prstGeom prst="roundRect">
            <a:avLst>
              <a:gd name="adj" fmla="val 25000"/>
            </a:avLst>
          </a:prstGeom>
          <a:solidFill>
            <a:srgbClr val="F7F8FA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p14_i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63050" y="2368550"/>
            <a:ext cx="317500" cy="3175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144000" y="2908300"/>
            <a:ext cx="2095500" cy="28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spc="-1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다양한 결제수단 지원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3162300"/>
            <a:ext cx="2133600" cy="4197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2"/>
              </a:lnSpc>
            </a:pPr>
            <a:r>
              <a:rPr sz="85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카드, 계좌이체, 간편결제, 가상계좌 등</a:t>
            </a:r>
          </a:p>
          <a:p>
            <a:pPr algn="l">
              <a:lnSpc>
                <a:spcPts val="1402"/>
              </a:lnSpc>
            </a:pPr>
            <a:r>
              <a:rPr sz="85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다양한 결제수단을 지원합니다.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2000" y="4064000"/>
            <a:ext cx="5715000" cy="311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판매자가 샵플랜을 시작하는 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2000" y="4330700"/>
            <a:ext cx="5715000" cy="225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75"/>
              </a:lnSpc>
            </a:pPr>
            <a:r>
              <a:rPr sz="85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신청부터 이벤트 종료까지 5단계로 끝납니다.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2000" y="4521200"/>
            <a:ext cx="10668000" cy="1193800"/>
          </a:xfrm>
          <a:prstGeom prst="roundRect">
            <a:avLst>
              <a:gd name="adj" fmla="val 9574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41400" y="4749800"/>
            <a:ext cx="1270000" cy="196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700" b="1" spc="14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1400" y="4914900"/>
            <a:ext cx="1841500" cy="263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계약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1400" y="5156200"/>
            <a:ext cx="1841500" cy="398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샵플랜 신청하고</a:t>
            </a:r>
          </a:p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상담을 진행해요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59100" y="4775200"/>
            <a:ext cx="9525" cy="685800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60700" y="4749800"/>
            <a:ext cx="1270000" cy="196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700" b="1" spc="14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60700" y="4914900"/>
            <a:ext cx="1841500" cy="263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상품 등록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60700" y="5156200"/>
            <a:ext cx="1841500" cy="398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상품명과 가격을</a:t>
            </a:r>
          </a:p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등록해요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78400" y="4775200"/>
            <a:ext cx="9525" cy="685800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80000" y="4749800"/>
            <a:ext cx="1270000" cy="196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700" b="1" spc="14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80000" y="4914900"/>
            <a:ext cx="1841500" cy="263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QR 생성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80000" y="5156200"/>
            <a:ext cx="1841500" cy="398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현장 부착용 QR을</a:t>
            </a:r>
          </a:p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발급 받아요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97700" y="4775200"/>
            <a:ext cx="9525" cy="685800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99300" y="4749800"/>
            <a:ext cx="1270000" cy="196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700" b="1" spc="14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99300" y="4914900"/>
            <a:ext cx="1841500" cy="263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판매 시작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99300" y="5156200"/>
            <a:ext cx="1841500" cy="398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고객이 스캔하면</a:t>
            </a:r>
          </a:p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바로 결제돼요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017000" y="4775200"/>
            <a:ext cx="9525" cy="685800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18600" y="4749800"/>
            <a:ext cx="1270000" cy="196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700" b="1" spc="14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18600" y="4914900"/>
            <a:ext cx="1841500" cy="263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이벤트 종료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18600" y="5156200"/>
            <a:ext cx="1841500" cy="398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행사 후 매출이</a:t>
            </a:r>
          </a:p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자동 정산돼요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07 함께 운영하면 좋은 서비스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모바일 페이지 제작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881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이벤트 안내용 모바일 페이지도</a:t>
            </a:r>
          </a:p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함께 만들어드려요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746250"/>
            <a:ext cx="8890000" cy="307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이벤트의 자세한 안내를 담은 모바일 페이지를 함께 제작하고 참여율을 극대화해 보세요.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578100"/>
            <a:ext cx="5461000" cy="88900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5200" y="2768600"/>
            <a:ext cx="381000" cy="196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700" b="1" spc="14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5400" y="2717800"/>
            <a:ext cx="4572000" cy="301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250" b="1" spc="-1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이벤트 내용 안내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5400" y="3009900"/>
            <a:ext cx="4572000" cy="2470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45"/>
              </a:lnSpc>
            </a:pPr>
            <a:r>
              <a:rPr sz="85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이벤트 내용과 참여 방법을 자세히 안내해요.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2000" y="3568700"/>
            <a:ext cx="5461000" cy="88900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5200" y="3759200"/>
            <a:ext cx="381000" cy="196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700" b="1" spc="14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5400" y="3708400"/>
            <a:ext cx="4572000" cy="301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250" b="1" spc="-1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스탬프 스팟 지도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5400" y="4000500"/>
            <a:ext cx="4572000" cy="2470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45"/>
              </a:lnSpc>
            </a:pPr>
            <a:r>
              <a:rPr sz="85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스탬프 스팟을 지도로 안내하고 방문자 동선을 유도해요.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2000" y="4559300"/>
            <a:ext cx="5461000" cy="88900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200" y="4749800"/>
            <a:ext cx="381000" cy="196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700" b="1" spc="14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5400" y="4699000"/>
            <a:ext cx="4572000" cy="301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250" b="1" spc="-1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스탬프 투어 연결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5400" y="4991100"/>
            <a:ext cx="4572000" cy="2470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45"/>
              </a:lnSpc>
            </a:pPr>
            <a:r>
              <a:rPr sz="85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안내 페이지에 스탬프 투어로 연결되는 버튼을 추가해요.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77000" y="2578100"/>
            <a:ext cx="5080000" cy="2870200"/>
          </a:xfrm>
          <a:prstGeom prst="roundRect">
            <a:avLst>
              <a:gd name="adj" fmla="val 3982"/>
            </a:avLst>
          </a:prstGeom>
          <a:solidFill>
            <a:srgbClr val="F2F4F6"/>
          </a:solidFill>
          <a:ln w="6350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3200" y="2578100"/>
            <a:ext cx="4927600" cy="287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20"/>
              </a:lnSpc>
            </a:pPr>
            <a:r>
              <a:rPr sz="700" b="0" spc="-7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모바일 안내 페이지 목업 2종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08 자주 묻는 질문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FAQ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자주 묻는 질문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2000" y="1670050"/>
            <a:ext cx="5207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9800" y="180975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80975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서비스 비용은 어떻게 책정되나요?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025650"/>
            <a:ext cx="4635500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비용은 선택하신 플랜, 스탬프 갯수, 이용 기간, 리워드 지급 조건, 커스텀 요구사항 등에 따라 달라집니다.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2000" y="2393950"/>
            <a:ext cx="5207000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9800" y="250190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50190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이지 플랜과 리드 플랜의 차이는 무엇인가요?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717800"/>
            <a:ext cx="4635500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두 플랜의 차이점은 ‘인증 여부’입니다. 리드 플랜은 고객이 핸드폰 번호 또는 이메일로 본인 인증을 해야 적립할 수 있습니다.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2000" y="3219450"/>
            <a:ext cx="5207000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9800" y="332740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32740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커스텀 디자인은 어디까지 가능한가요?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543300"/>
            <a:ext cx="4635500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모든 페이지에 커스텀 디자인을 적용할 수 있습니다. 원본 디자인 파일을 주시면 페이지에 맞게 적용해 드리며, 추가 비용이 발생됩니다.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2000" y="4044950"/>
            <a:ext cx="5207000" cy="596900"/>
          </a:xfrm>
          <a:prstGeom prst="roundRect">
            <a:avLst>
              <a:gd name="adj" fmla="val 12765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9800" y="415290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15290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태블릿, PC로도 참여할 수 있나요?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4368800"/>
            <a:ext cx="4635500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코드 스캔이 가능한 기기라면 종류에 관계없이 이벤트에 참여할 수 있습니다.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2000" y="4705350"/>
            <a:ext cx="5207000" cy="596900"/>
          </a:xfrm>
          <a:prstGeom prst="roundRect">
            <a:avLst>
              <a:gd name="adj" fmla="val 12765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9800" y="481330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481330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반드시 현장에 와야만 스탬프 적립이 가능하게 하는 방법도 있을까요?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5029200"/>
            <a:ext cx="4635500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스티커나 카드를 이용하면 QR코드를 복사하여 부정 적립하는 것을 막을 수 있습니다.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2000" y="5365750"/>
            <a:ext cx="5207000" cy="596900"/>
          </a:xfrm>
          <a:prstGeom prst="roundRect">
            <a:avLst>
              <a:gd name="adj" fmla="val 12765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9800" y="547370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547370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고객정보 수집을 함에 있어 보안상 이슈는 없나요?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5689600"/>
            <a:ext cx="4635500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모든 데이터는 암호화를 거쳐 안전하게 저장 및 관리됩니다.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23000" y="1670050"/>
            <a:ext cx="5207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180975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04000" y="180975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제작기간은 보통 어느정도 걸리나요?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04000" y="2025650"/>
            <a:ext cx="4635500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커스텀 요청 사항이 없으면 1일 안에 완성됩니다. 만약 커스텀 요청이 있을 경우, 완성까지 약 2주 정도 소요됩니다.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23000" y="2393950"/>
            <a:ext cx="5207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254000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04000" y="254000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스탬프는 몇 개까지 추가 가능한가요?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04000" y="2755900"/>
            <a:ext cx="4635500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스탬프는 원하는 만큼 무제한으로 추가할 수 있습니다.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23000" y="3124200"/>
            <a:ext cx="5207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326390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04000" y="326390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스탬프 적립 갯수에 따른 리워드 차등 지급이 가능한가요?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04000" y="3479800"/>
            <a:ext cx="4635500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네, 가능합니다. 적립 횟수에 따라 차등 지급하거나, 특정 스탬프 적립 시 리워드를 지급하도록 설정할 수 있습니다.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23000" y="3848100"/>
            <a:ext cx="5207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398780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04000" y="398780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이벤트 운영 중 수정이 가능한가요?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04000" y="4203700"/>
            <a:ext cx="4635500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특정 페이지의 이미지는 언제든지 즉시 수정할 수 있습니다. 다만, 기능 수정은 추가 비용이 발생될 수 있습니다.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23000" y="4572000"/>
            <a:ext cx="5207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0" y="471805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04000" y="471805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이벤트 종료 후 참여 데이터는 어떻게 처리되나요?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04000" y="4933950"/>
            <a:ext cx="4635500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모든 참여 기록은 관리자 페이지에서 확인하고 다운로드할 수 있습니다. 이벤트 종료 시 모든 기록은 삭제됩니다.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23000" y="5302250"/>
            <a:ext cx="5207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0" y="544195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04000" y="544195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솔루션 이용 신청은 어떻게 해야 하나요?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04000" y="5657850"/>
            <a:ext cx="4635500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상담 신청서를 작성하거나, 전화 또는 온라인 채팅으로 빠르게 상담을 요청하실 수 있습니다.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181350"/>
            <a:ext cx="889000" cy="298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3721100"/>
            <a:ext cx="7620000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000" b="1" spc="-2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축제 · 팝업 · 박람회를 위한</a:t>
            </a:r>
          </a:p>
          <a:p>
            <a:pPr algn="l">
              <a:lnSpc>
                <a:spcPts val="3000"/>
              </a:lnSpc>
            </a:pPr>
            <a:r>
              <a:rPr sz="2000" b="1" spc="-2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앱 없는 QR 스탬프 투어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5118100"/>
            <a:ext cx="10668000" cy="9525"/>
          </a:xfrm>
          <a:prstGeom prst="rect">
            <a:avLst/>
          </a:prstGeom>
          <a:solidFill>
            <a:srgbClr val="C2C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5461000"/>
            <a:ext cx="1143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회사명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66900" y="5461000"/>
            <a:ext cx="381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0" spc="-10">
                <a:solidFill>
                  <a:srgbClr val="3A4046"/>
                </a:solidFill>
                <a:latin typeface="Pretendard"/>
                <a:latin typeface="Pretendard"/>
                <a:ea typeface="Pretendard"/>
                <a:cs typeface="Pretendard"/>
              </a:rPr>
              <a:t>(주)엠카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5765800"/>
            <a:ext cx="1143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사업자등록번호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6900" y="5765800"/>
            <a:ext cx="381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0" spc="-10">
                <a:solidFill>
                  <a:srgbClr val="3A4046"/>
                </a:solidFill>
                <a:latin typeface="Pretendard"/>
                <a:latin typeface="Pretendard"/>
                <a:ea typeface="Pretendard"/>
                <a:cs typeface="Pretendard"/>
              </a:rPr>
              <a:t>201-86-28172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070600"/>
            <a:ext cx="1143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주소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66900" y="6070600"/>
            <a:ext cx="381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0" spc="-10">
                <a:solidFill>
                  <a:srgbClr val="3A4046"/>
                </a:solidFill>
                <a:latin typeface="Pretendard"/>
                <a:latin typeface="Pretendard"/>
                <a:ea typeface="Pretendard"/>
                <a:cs typeface="Pretendard"/>
              </a:rPr>
              <a:t>서울 서초구 강남대로 373, 15F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88000" y="5461000"/>
            <a:ext cx="952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홈페이지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900" y="5461000"/>
            <a:ext cx="381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0" spc="-10">
                <a:solidFill>
                  <a:srgbClr val="3A4046"/>
                </a:solidFill>
                <a:latin typeface="Pretendard"/>
                <a:latin typeface="Pretendard"/>
                <a:ea typeface="Pretendard"/>
                <a:cs typeface="Pretendard"/>
              </a:rPr>
              <a:t>www.qrstp.com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88000" y="5765800"/>
            <a:ext cx="952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이메일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900" y="5765800"/>
            <a:ext cx="381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0" spc="-10">
                <a:solidFill>
                  <a:srgbClr val="3A4046"/>
                </a:solidFill>
                <a:latin typeface="Pretendard"/>
                <a:latin typeface="Pretendard"/>
                <a:ea typeface="Pretendard"/>
                <a:cs typeface="Pretendard"/>
              </a:rPr>
              <a:t>help@makevu.com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88000" y="6070600"/>
            <a:ext cx="952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대표번호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5900" y="6070600"/>
            <a:ext cx="381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0" spc="-10">
                <a:solidFill>
                  <a:srgbClr val="3A4046"/>
                </a:solidFill>
                <a:latin typeface="Pretendard"/>
                <a:latin typeface="Pretendard"/>
                <a:ea typeface="Pretendard"/>
                <a:cs typeface="Pretendard"/>
              </a:rPr>
              <a:t>1800-8590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